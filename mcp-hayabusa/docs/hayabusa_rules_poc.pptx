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ightning Bolt 2"/>
          <p:cNvSpPr/>
          <p:nvPr/>
        </p:nvSpPr>
        <p:spPr>
          <a:xfrm>
            <a:off x="8869680" y="822960"/>
            <a:ext cx="2743200" cy="5120640"/>
          </a:xfrm>
          <a:prstGeom prst="lightningBolt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63946"/>
                </a:solidFill>
                <a:latin typeface="Calibri"/>
              </a:rPr>
              <a:t>HAYABUSA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From Sigma Rule to Structured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9D3DD"/>
                </a:solidFill>
                <a:latin typeface="Calibri"/>
              </a:rPr>
              <a:t>A proof of concept walking through three detection rules the scan_evtx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9D3DD"/>
                </a:solidFill>
                <a:latin typeface="Calibri"/>
              </a:rPr>
              <a:t>tool matched against a real Sysmon EVTX 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RULES DETAILED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6177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LIVE DETECTIONS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6177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UAC BYPASS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96A3"/>
                </a:solidFill>
                <a:latin typeface="Calibri"/>
              </a:rPr>
              <a:t>Sample: UACME_59_Sysmon.evtx  •  EVTX-ATTACK-SAMPLES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D3557"/>
                </a:solidFill>
                <a:latin typeface="Cambria"/>
              </a:rPr>
              <a:t>How scan_evtx Turns a Log Into a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673"/>
                </a:solidFill>
                <a:latin typeface="Calibri"/>
              </a:rPr>
              <a:t>Four stages, from raw Windows telemetry to a structured MCP tool result</a:t>
            </a:r>
          </a:p>
        </p:txBody>
      </p:sp>
      <p:sp>
        <p:nvSpPr>
          <p:cNvPr id="5" name="Document 4"/>
          <p:cNvSpPr/>
          <p:nvPr/>
        </p:nvSpPr>
        <p:spPr>
          <a:xfrm>
            <a:off x="1394460" y="2103120"/>
            <a:ext cx="960120" cy="960120"/>
          </a:xfrm>
          <a:prstGeom prst="flowChartDocumen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Calibri"/>
              </a:rPr>
              <a:t>1. EVTX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A6673"/>
                </a:solidFill>
                <a:latin typeface="Calibri"/>
              </a:rPr>
              <a:t>A Sysmon .evtx file is
passed to scan_evtx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2" y="2423160"/>
            <a:ext cx="265176" cy="320040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9 8"/>
          <p:cNvSpPr/>
          <p:nvPr/>
        </p:nvSpPr>
        <p:spPr>
          <a:xfrm>
            <a:off x="4183380" y="2103120"/>
            <a:ext cx="960120" cy="960120"/>
          </a:xfrm>
          <a:prstGeom prst="gear9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246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Calibri"/>
              </a:rPr>
              <a:t>2. Hayabusa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657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A6673"/>
                </a:solidFill>
                <a:latin typeface="Calibri"/>
              </a:rPr>
              <a:t>Hayabusa evaluates every
event against loaded rules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25312" y="2423160"/>
            <a:ext cx="265176" cy="320040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6972300" y="2103120"/>
            <a:ext cx="960120" cy="960120"/>
          </a:xfrm>
          <a:prstGeom prst="lightningBol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Calibri"/>
              </a:rPr>
              <a:t>3. Rule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A6673"/>
                </a:solidFill>
                <a:latin typeface="Calibri"/>
              </a:rPr>
              <a:t>A Sigma or Hayabusa rule
condition is satisfied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14232" y="2423160"/>
            <a:ext cx="265176" cy="320040"/>
          </a:xfrm>
          <a:prstGeom prst="rightArrow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ctagon 16"/>
          <p:cNvSpPr/>
          <p:nvPr/>
        </p:nvSpPr>
        <p:spPr>
          <a:xfrm>
            <a:off x="9761220" y="2103120"/>
            <a:ext cx="960120" cy="960120"/>
          </a:xfrm>
          <a:prstGeom prst="octag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246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Calibri"/>
              </a:rPr>
              <a:t>4. JSON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657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A6673"/>
                </a:solidFill>
                <a:latin typeface="Calibri"/>
              </a:rPr>
              <a:t>Result is filtered by severity
and returned over MCP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377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3557"/>
                </a:solidFill>
                <a:latin typeface="Calibri"/>
              </a:rPr>
              <a:t>Rules loaded from ./hayabusa/rules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10241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64592" marL="164592"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5A6673"/>
                </a:solidFill>
                <a:latin typeface="Calibri"/>
              </a:rPr>
              <a:t>Hayabusa-native rules (author heuristics) and community Sigma rules run side by side</a:t>
            </a:r>
          </a:p>
          <a:p>
            <a:pPr algn="l" indent="-164592" marL="164592"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5A6673"/>
                </a:solidFill>
                <a:latin typeface="Calibri"/>
              </a:rPr>
              <a:t>Each match carries a Level (informational → critical) used for scan_evtx's min_severity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Cambria"/>
              </a:rPr>
              <a:t>Proc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960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Level: low   •   Status: test   •   Ruletype: Hayabusa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4864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3"/>
                </a:solidFill>
                <a:latin typeface="Calibri"/>
              </a:rPr>
              <a:t>EventID 10
Operational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492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What it detects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9436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D47"/>
                </a:solidFill>
                <a:latin typeface="Calibri"/>
              </a:rPr>
              <a:t>Fires when one process opens a handle to another — the step that usually precedes reading or writing its memory. This is how credential-theft tools reach into LSASS to steal secrets for Pass-the-Hash attacks. Marked “low” because diagnostic tools trigger it constantly, so it needs allowlist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08760"/>
            <a:ext cx="4251960" cy="2331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Rule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57400"/>
            <a:ext cx="3749039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Author: Zach Mathis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Tags: sysmon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Channel: Microsoft-Windows-Sysmon/Operational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Filters out known-noisy sources (McAfee, VMware Tools, MRT.exe)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927080" cy="109728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3DD"/>
                </a:solidFill>
                <a:latin typeface="Calibri"/>
              </a:rPr>
              <a:t>DETECTION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378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selection_basic and selection_no_alerts and not filter_allowlist and not filter_lsass_to_winlogon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0352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EEF7F6"/>
          </a:solidFill>
          <a:ln w="95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468112"/>
            <a:ext cx="566928" cy="5669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94960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3557"/>
                </a:solidFill>
                <a:latin typeface="Calibri"/>
              </a:rPr>
              <a:t>Matched in our test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68756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5 Sysmon Event ID 10 records — UACME's Akagi_64.exe repeatedly opening handles to explorer.exe, svchost.exe and Task Manager while escalating privileges.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Cambria"/>
              </a:rPr>
              <a:t>Proc Exec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960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57B9D"/>
                </a:solidFill>
                <a:latin typeface="Calibri"/>
              </a:rPr>
              <a:t>Level: informational   •   Status: stable   •   Ruletype: Hayabusa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4864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3"/>
                </a:solidFill>
                <a:latin typeface="Calibri"/>
              </a:rPr>
              <a:t>EventID 1
Operational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492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What it detects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9436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D47"/>
                </a:solidFill>
                <a:latin typeface="Calibri"/>
              </a:rPr>
              <a:t>A catch-all for Sysmon process creation: it logs every process launch that wasn't already flagged by a more specific rule. On its own it's just baseline telemetry — informational severity — but it's the backbone every higher-level detection builds on top 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08760"/>
            <a:ext cx="4251960" cy="2331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Rule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57400"/>
            <a:ext cx="3749039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Author: Zach Mathis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Tags: sysmon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Channel: Microsoft-Windows-Sysmon/Operational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False positives: normal system usage (expected — it logs everything)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927080" cy="109728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3DD"/>
                </a:solidFill>
                <a:latin typeface="Calibri"/>
              </a:rPr>
              <a:t>DETECTION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378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selection_basic and selection_no_alerts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0352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EEF7F6"/>
          </a:solidFill>
          <a:ln w="95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468112"/>
            <a:ext cx="566928" cy="566928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94960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3557"/>
                </a:solidFill>
                <a:latin typeface="Calibri"/>
              </a:rPr>
              <a:t>Matched in our test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68756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2 process launches: Task Manager (Taskmgr.exe) starting, then Taskmgr spawning cmd.exe — the exact sequence the next rule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4572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Cambria"/>
              </a:rPr>
              <a:t>New Process Created Via Taskmgr.EXE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960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Level: low   •   Status: test   •   Ruletype: Sigma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54864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3"/>
                </a:solidFill>
                <a:latin typeface="Calibri"/>
              </a:rPr>
              <a:t>EventID 1
Operational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492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What it detects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9436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33D47"/>
                </a:solidFill>
                <a:latin typeface="Calibri"/>
              </a:rPr>
              <a:t>Task Manager runs elevated, so spawning a child process through it inherits that elevation — a known UAC bypass (MITRE ATT&amp;CK T1036, Masquerading). This rule catches any non-admin child process created via taskmgr.exe, filtering out mmc.exe, resmon.exe and Taskmgr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08760"/>
            <a:ext cx="4251960" cy="2331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Rule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57400"/>
            <a:ext cx="3749039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Author: Florian Roth (Nextron Systems)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Tags: attack.stealth, attack.t1036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Channel: Microsoft-Windows-Sysmon/Operational</a:t>
            </a:r>
          </a:p>
          <a:p>
            <a:pPr algn="l" indent="-164592" marL="164592">
              <a:spcAft>
                <a:spcPts val="800"/>
              </a:spcAft>
              <a:buFont typeface="Arial"/>
              <a:buChar char="•"/>
            </a:pPr>
            <a:r>
              <a:rPr sz="1150">
                <a:solidFill>
                  <a:srgbClr val="333D47"/>
                </a:solidFill>
                <a:latin typeface="Calibri"/>
              </a:rPr>
              <a:t>False positives: administrative activity (rare in practice)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927080" cy="1097280"/>
          </a:xfrm>
          <a:prstGeom prst="roundRect">
            <a:avLst>
              <a:gd name="adj" fmla="val 6000"/>
            </a:avLst>
          </a:prstGeom>
          <a:solidFill>
            <a:srgbClr val="1D3557"/>
          </a:solidFill>
          <a:ln w="95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3DD"/>
                </a:solidFill>
                <a:latin typeface="Calibri"/>
              </a:rPr>
              <a:t>DETECTION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378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nsolas"/>
              </a:rPr>
              <a:t>process_creation and (selection and not 1 of filter_main_*)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0352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EEF7F6"/>
          </a:solidFill>
          <a:ln w="95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468112"/>
            <a:ext cx="566928" cy="566928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94960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3557"/>
                </a:solidFill>
                <a:latin typeface="Calibri"/>
              </a:rPr>
              <a:t>Matched in our test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68756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1 exact match: cmd.exe launched via Taskmgr.exe — this is UACME method 59 succeeding, caught by a community Sigma rule with zero Hayabusa-specific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Live Scan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3DD"/>
                </a:solidFill>
                <a:latin typeface="Calibri"/>
              </a:rPr>
              <a:t>scan_evtx against UACME_59_Sysmon.evtx — unfiltered (min_severity omitted)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606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E63946"/>
                </a:solidFill>
                <a:latin typeface="Cambri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D3DD"/>
                </a:solidFill>
                <a:latin typeface="Calibri"/>
              </a:rPr>
              <a:t>total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7288" y="1828800"/>
            <a:ext cx="2606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457B9D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26974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D3DD"/>
                </a:solidFill>
                <a:latin typeface="Calibri"/>
              </a:rPr>
              <a:t>distinct rules matched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3056" y="1828800"/>
            <a:ext cx="2606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2EC4B6"/>
                </a:solidFill>
                <a:latin typeface="Cambr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26974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D3DD"/>
                </a:solidFill>
                <a:latin typeface="Calibri"/>
              </a:rPr>
              <a:t>raw Sysmon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8824" y="1828800"/>
            <a:ext cx="2606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8824" y="269748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D3DD"/>
                </a:solidFill>
                <a:latin typeface="Calibri"/>
              </a:rPr>
              <a:t>UAC bypass technique caught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520440"/>
          <a:ext cx="10744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103120"/>
                <a:gridCol w="1280160"/>
                <a:gridCol w="132588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RuleTitle</a:t>
                      </a:r>
                    </a:p>
                  </a:txBody>
                  <a:tcPr marL="101600" marR="101600" marT="50800" marB="50800" anchor="ctr">
                    <a:solidFill>
                      <a:srgbClr val="2A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101600" marR="101600" marT="50800" marB="50800" anchor="ctr">
                    <a:solidFill>
                      <a:srgbClr val="2A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EventID</a:t>
                      </a:r>
                    </a:p>
                  </a:txBody>
                  <a:tcPr marL="101600" marR="101600" marT="50800" marB="50800" anchor="ctr">
                    <a:solidFill>
                      <a:srgbClr val="2A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101600" marR="101600" marT="50800" marB="50800" anchor="ctr">
                    <a:solidFill>
                      <a:srgbClr val="2A334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Proc Access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Proc Exec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informational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New Process Created Via Taskmgr.EXE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D355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C9D3DD"/>
                </a:solidFill>
                <a:latin typeface="Calibri"/>
              </a:rPr>
              <a:t>Proof of concept validated: the MCP server locates a real Hayabusa binary, runs json-timeline against a genuine attack sample, and returns severity-filterable JSON — end to 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